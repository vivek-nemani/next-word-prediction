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58" r:id="rId6"/>
    <p:sldId id="257" r:id="rId7"/>
    <p:sldId id="260" r:id="rId8"/>
    <p:sldId id="268" r:id="rId9"/>
    <p:sldId id="261" r:id="rId10"/>
    <p:sldId id="262" r:id="rId11"/>
    <p:sldId id="263" r:id="rId12"/>
    <p:sldId id="264" r:id="rId13"/>
    <p:sldId id="25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92" y="85396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010103" y="4085896"/>
            <a:ext cx="81979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Next </a:t>
            </a:r>
            <a:r>
              <a:rPr lang="en-US" sz="3600" dirty="0"/>
              <a:t>Word </a:t>
            </a:r>
            <a:r>
              <a:rPr lang="en-US" sz="3600"/>
              <a:t>Prediction</a:t>
            </a:r>
            <a:r>
              <a:rPr lang="en-US" sz="3600" dirty="0"/>
              <a:t> using LSTM</a:t>
            </a:r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dirty="0">
                <a:solidFill>
                  <a:srgbClr val="FF0000"/>
                </a:solidFill>
              </a:rPr>
              <a:t>Introduction</a:t>
            </a:r>
            <a:r>
              <a:rPr lang="en-IN" dirty="0"/>
              <a:t>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511425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dirty="0"/>
              <a:t>About me – </a:t>
            </a:r>
            <a:r>
              <a:rPr lang="en-US" dirty="0"/>
              <a:t>  </a:t>
            </a:r>
            <a:r>
              <a:rPr dirty="0"/>
              <a:t>Vivek, a B.Tech Electronics &amp; Communication Engineering graduate with strong enthusiasm for data science, currently pursuing a data science course at Innomatics Research Labs, eager to work in team-based environments and grow into a hands-on data professional.</a:t>
            </a:r>
            <a:endParaRPr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Agenda (Project Flow)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</a:t>
            </a:r>
            <a:r>
              <a:t>roblem </a:t>
            </a:r>
            <a:r>
              <a:rPr lang="en-US"/>
              <a:t>statement</a:t>
            </a:r>
          </a:p>
          <a:p>
            <a:r>
              <a:t>Dataset</a:t>
            </a:r>
          </a:p>
          <a:p>
            <a:r>
              <a:rPr lang="en-US"/>
              <a:t>EDA</a:t>
            </a:r>
          </a:p>
          <a:p>
            <a:r>
              <a:rPr lang="en-US"/>
              <a:t>Preprocessing</a:t>
            </a:r>
          </a:p>
          <a:p>
            <a:r>
              <a:t>Model architectur</a:t>
            </a:r>
            <a:r>
              <a:rPr lang="en-US"/>
              <a:t>e</a:t>
            </a:r>
          </a:p>
          <a:p>
            <a:r>
              <a:t>Evaluation</a:t>
            </a:r>
          </a:p>
          <a:p>
            <a:r>
              <a:t>Challenges</a:t>
            </a:r>
            <a:r>
              <a:rPr lang="en-US"/>
              <a:t> faced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4094480" cy="64516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3600" dirty="0"/>
              <a:t>Problem Statement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498600"/>
            <a:ext cx="10660380" cy="4515485"/>
          </a:xfrm>
          <a:prstGeom prst="rect">
            <a:avLst/>
          </a:prstGeom>
          <a:noFill/>
        </p:spPr>
        <p:txBody>
          <a:bodyPr wrap="none" lIns="91440" tIns="45720" rIns="91440" bIns="45720" anchor="t">
            <a:noAutofit/>
          </a:bodyPr>
          <a:lstStyle/>
          <a:p>
            <a:pPr algn="l"/>
            <a:r>
              <a:rPr sz="2400" dirty="0"/>
              <a:t>Smartphone users expect keyboards to suggest the next word instantly, </a:t>
            </a:r>
            <a:endParaRPr sz="2400" dirty="0"/>
          </a:p>
          <a:p>
            <a:pPr algn="l"/>
            <a:r>
              <a:rPr sz="2400" dirty="0"/>
              <a:t>yet traditional n‑gram engines struggle with slang, abbreviations, and </a:t>
            </a:r>
            <a:endParaRPr sz="2400" dirty="0"/>
          </a:p>
          <a:p>
            <a:pPr algn="l"/>
            <a:r>
              <a:rPr sz="2400" dirty="0"/>
              <a:t>short-form chatter.</a:t>
            </a:r>
            <a:r>
              <a:rPr lang="en-US" sz="2400" dirty="0"/>
              <a:t> This project trains an LSTM-based language model on </a:t>
            </a:r>
            <a:endParaRPr lang="en-US" sz="2400" dirty="0"/>
          </a:p>
          <a:p>
            <a:pPr algn="l"/>
            <a:r>
              <a:rPr lang="en-US" sz="2400" dirty="0"/>
              <a:t>SwiftKey-style Twitter data to understand conversational context and generate </a:t>
            </a:r>
            <a:endParaRPr lang="en-US" sz="2400" dirty="0"/>
          </a:p>
          <a:p>
            <a:pPr algn="l"/>
            <a:r>
              <a:rPr lang="en-US" sz="2400" dirty="0"/>
              <a:t>the most probable next word in real time, enabling faster and more </a:t>
            </a:r>
            <a:endParaRPr lang="en-US" sz="2400" dirty="0"/>
          </a:p>
          <a:p>
            <a:pPr algn="l"/>
            <a:r>
              <a:rPr lang="en-US" sz="2400" dirty="0"/>
              <a:t>personalized typing assistance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87830"/>
            <a:ext cx="10515600" cy="106489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dirty="0"/>
              <a:t>Data: en_US.twitter.txt subset (</a:t>
            </a:r>
            <a:r>
              <a:rPr lang="en-US" dirty="0"/>
              <a:t>3k</a:t>
            </a:r>
            <a:r>
              <a:rPr dirty="0"/>
              <a:t> lines) to mimic keyboard </a:t>
            </a:r>
            <a:r>
              <a:rPr lang="en-US" dirty="0"/>
              <a:t>      </a:t>
            </a:r>
            <a:r>
              <a:rPr dirty="0"/>
              <a:t>usage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3146425"/>
            <a:ext cx="10238105" cy="28562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EDA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174240"/>
          </a:xfrm>
        </p:spPr>
        <p:txBody>
          <a:bodyPr/>
          <a:p>
            <a:r>
              <a:rPr dirty="0">
                <a:sym typeface="+mn-ea"/>
              </a:rPr>
              <a:t>Cleansing: remove</a:t>
            </a:r>
            <a:r>
              <a:rPr lang="en-US" dirty="0">
                <a:sym typeface="+mn-ea"/>
              </a:rPr>
              <a:t>d</a:t>
            </a:r>
            <a:r>
              <a:rPr dirty="0">
                <a:sym typeface="+mn-ea"/>
              </a:rPr>
              <a:t> emojis/non-ASCII, lowercase, strip whitespace, skip blank rows.</a:t>
            </a:r>
            <a:endParaRPr dirty="0">
              <a:sym typeface="+mn-ea"/>
            </a:endParaRPr>
          </a:p>
          <a:p>
            <a:r>
              <a:rPr lang="en-US"/>
              <a:t>Checked maximum length of a sentence</a:t>
            </a:r>
            <a:endParaRPr lang="en-US"/>
          </a:p>
          <a:p>
            <a:r>
              <a:rPr lang="en-US"/>
              <a:t>Top 10 words in the dataset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4572635"/>
            <a:ext cx="10516235" cy="11811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3205"/>
            <a:ext cx="7493000" cy="1402715"/>
          </a:xfrm>
        </p:spPr>
        <p:txBody>
          <a:bodyPr>
            <a:normAutofit/>
          </a:bodyPr>
          <a:lstStyle/>
          <a:p>
            <a:r>
              <a:rPr lang="en-US"/>
              <a:t>Preprocessing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34110"/>
            <a:ext cx="10515600" cy="3296920"/>
          </a:xfrm>
        </p:spPr>
        <p:txBody>
          <a:bodyPr>
            <a:normAutofit fontScale="90000"/>
          </a:bodyPr>
          <a:lstStyle/>
          <a:p>
            <a:endParaRPr dirty="0" err="1"/>
          </a:p>
          <a:p>
            <a:pPr marL="114300" indent="0">
              <a:buNone/>
            </a:pPr>
            <a:r>
              <a:rPr>
                <a:sym typeface="+mn-ea"/>
              </a:rPr>
              <a:t>Tokenization &amp; Sequence Creation</a:t>
            </a:r>
            <a:r>
              <a:rPr lang="en-US">
                <a:sym typeface="+mn-ea"/>
              </a:rPr>
              <a:t>:</a:t>
            </a:r>
            <a:endParaRPr dirty="0" err="1"/>
          </a:p>
          <a:p>
            <a:r>
              <a:rPr dirty="0" err="1"/>
              <a:t>Keras</a:t>
            </a:r>
            <a:r>
              <a:rPr dirty="0"/>
              <a:t> Tokenizer limited to 50k most frequent words to balance coverage and size.</a:t>
            </a:r>
            <a:endParaRPr dirty="0"/>
          </a:p>
          <a:p>
            <a:r>
              <a:rPr dirty="0"/>
              <a:t>Sentences converted to integer sequences; manual spot checks ensured quality.</a:t>
            </a:r>
            <a:endParaRPr dirty="0"/>
          </a:p>
          <a:p>
            <a:r>
              <a:rPr dirty="0"/>
              <a:t>Constructed n-grams and pre-padded sequences to max length (34).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4207510"/>
            <a:ext cx="10516235" cy="19627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&amp; Training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10315"/>
            <a:ext cx="10515600" cy="1940529"/>
          </a:xfrm>
        </p:spPr>
        <p:txBody>
          <a:bodyPr/>
          <a:lstStyle/>
          <a:p>
            <a:r>
              <a:rPr dirty="0"/>
              <a:t>Embedding layer: 50k vocab → 100-dim vectors</a:t>
            </a:r>
            <a:endParaRPr lang="en-US" dirty="0"/>
          </a:p>
          <a:p>
            <a:r>
              <a:rPr dirty="0"/>
              <a:t>LSTM layer: 150 units</a:t>
            </a:r>
            <a:r>
              <a:rPr lang="en-US" dirty="0"/>
              <a:t> ,</a:t>
            </a:r>
            <a:r>
              <a:rPr dirty="0"/>
              <a:t> Dense </a:t>
            </a:r>
            <a:r>
              <a:rPr dirty="0" err="1"/>
              <a:t>softmax</a:t>
            </a:r>
            <a:r>
              <a:rPr dirty="0"/>
              <a:t> predicts next word.</a:t>
            </a:r>
            <a:endParaRPr dirty="0"/>
          </a:p>
          <a:p>
            <a:r>
              <a:rPr dirty="0"/>
              <a:t>Loss: categorical cross-entropy, Optimizer: Adam, Metrics: accuracy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7275" y="3566160"/>
            <a:ext cx="4754880" cy="24593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70660"/>
            <a:ext cx="10515600" cy="3753485"/>
          </a:xfrm>
        </p:spPr>
        <p:txBody>
          <a:bodyPr>
            <a:normAutofit lnSpcReduction="10000"/>
          </a:bodyPr>
          <a:lstStyle/>
          <a:p>
            <a:r>
              <a:t>Train/validation split on n-gram dataset to monitor learning curves.</a:t>
            </a:r>
          </a:p>
          <a:p>
            <a:r>
              <a:rPr lang="en-US"/>
              <a:t>Training accuracy: 92% after 40 epochs.</a:t>
            </a:r>
            <a:endParaRPr lang="en-US"/>
          </a:p>
          <a:p>
            <a:pPr marL="114300" indent="0">
              <a:buNone/>
            </a:pPr>
            <a:endParaRPr lang="en-US"/>
          </a:p>
          <a:p>
            <a:pPr marL="114300" indent="0">
              <a:buNone/>
            </a:pPr>
            <a:endParaRPr lang="en-US"/>
          </a:p>
          <a:p>
            <a:pPr marL="114300" indent="0">
              <a:buNone/>
            </a:pPr>
            <a:endParaRPr lang="en-US"/>
          </a:p>
          <a:p>
            <a:pPr marL="114300" indent="0">
              <a:buNone/>
            </a:pPr>
            <a:r>
              <a:rPr lang="en-US"/>
              <a:t>Manual testing:</a:t>
            </a:r>
            <a:endParaRPr lang="en-US"/>
          </a:p>
          <a:p>
            <a:pPr marL="114300" indent="0">
              <a:buNone/>
            </a:pPr>
            <a:r>
              <a:rPr lang="en-US"/>
              <a:t>input:                  output: </a:t>
            </a:r>
            <a:endParaRPr lang="en-US"/>
          </a:p>
          <a:p>
            <a:pPr marL="114300" indent="0">
              <a:buNone/>
            </a:p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0" y="4685030"/>
            <a:ext cx="1504950" cy="342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4685030"/>
            <a:ext cx="1295400" cy="342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10" y="2962275"/>
            <a:ext cx="9822815" cy="7696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  <a:r>
              <a:rPr lang="en-US"/>
              <a:t> faced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Handling memory limits when tokenizing and padding large tweet </a:t>
            </a:r>
            <a:r>
              <a:rPr lang="en-US"/>
              <a:t>data</a:t>
            </a:r>
            <a:r>
              <a:t> on a laptop.</a:t>
            </a:r>
          </a:p>
          <a:p>
            <a:r>
              <a:t>Balancing dataset size versus training speed—small samples underfit, large samples stall.</a:t>
            </a:r>
          </a:p>
          <a:p>
            <a:r>
              <a:t>Choosing the right vocabulary cap and sequence length without losing important context.</a:t>
            </a:r>
          </a:p>
          <a:p>
            <a:r>
              <a:rPr lang="en-US"/>
              <a:t>S</a:t>
            </a:r>
            <a:r>
              <a:t>electing an LSTM size that fits memory while capturing enough context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2031</Words>
  <Application>WPS Presentation</Application>
  <PresentationFormat>Widescreen</PresentationFormat>
  <Paragraphs>66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Introduction </vt:lpstr>
      <vt:lpstr>Agenda (Project Flow)</vt:lpstr>
      <vt:lpstr>PowerPoint 演示文稿</vt:lpstr>
      <vt:lpstr>Dataset &amp; Preprocessing</vt:lpstr>
      <vt:lpstr>PowerPoint 演示文稿</vt:lpstr>
      <vt:lpstr>Tokenization &amp; Sequence Creation</vt:lpstr>
      <vt:lpstr>Model Architecture &amp; Training Setup</vt:lpstr>
      <vt:lpstr>Evaluation</vt:lpstr>
      <vt:lpstr>Challenges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vivek</cp:lastModifiedBy>
  <cp:revision>156</cp:revision>
  <dcterms:created xsi:type="dcterms:W3CDTF">2025-11-29T18:51:34Z</dcterms:created>
  <dcterms:modified xsi:type="dcterms:W3CDTF">2025-11-29T18:51:34Z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DE04D645013ADA329E602A6974F741E1_42</vt:lpwstr>
  </property>
  <property fmtid="{D5CDD505-2E9C-101B-9397-08002B2CF9AE}" pid="3" name="KSOProductBuildVer">
    <vt:lpwstr>1033-6.10.2.8397</vt:lpwstr>
  </property>
</Properties>
</file>